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2E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A1A2E"/>
                </a:solidFill>
                <a:latin typeface="Calibri"/>
              </a:rPr>
              <a:t>Vendor Count by Tier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Vendor Count</c:v>
                </c:pt>
              </c:strCache>
            </c:strRef>
          </c:tx>
          <c:spPr>
            <a:solidFill>
              <a:srgbClr val="2F6B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6B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5A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C2A2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302</c:v>
                </c:pt>
                <c:pt idx="1">
                  <c:v>147</c:v>
                </c:pt>
                <c:pt idx="2">
                  <c:v>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2E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A1A2E"/>
                </a:solidFill>
                <a:latin typeface="Calibri"/>
              </a:rPr>
              <a:t>Annual Spend by Tier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Spend ($M)</c:v>
                </c:pt>
              </c:strCache>
            </c:strRef>
          </c:tx>
          <c:spPr>
            <a:solidFill>
              <a:srgbClr val="2F6B1F"/>
            </a:solidFill>
            <a:effectLst/>
          </c:spPr>
          <c:invertIfNegative val="0"/>
          <c:dLbls>
            <c:numFmt formatCode="&quot;$&quot;0.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6B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5A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C2A2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52.48</c:v>
                </c:pt>
                <c:pt idx="1">
                  <c:v>18.05</c:v>
                </c:pt>
                <c:pt idx="2">
                  <c:v>9.4</c:v>
                </c:pt>
              </c:numCache>
            </c:numRef>
          </c:val>
        </c:ser>
        <c:dLbls>
          <c:numFmt formatCode="&quot;$&quot;0.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High Risk</c:v>
                </c:pt>
              </c:strCache>
            </c:strRef>
          </c:tx>
          <c:spPr>
            <a:solidFill>
              <a:srgbClr val="8C2A2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Financial Services</c:v>
                  </c:pt>
                  <c:pt idx="1">
                    <c:v>IT Services</c:v>
                  </c:pt>
                  <c:pt idx="2">
                    <c:v>Manufacturing</c:v>
                  </c:pt>
                  <c:pt idx="3">
                    <c:v>Staffing</c:v>
                  </c:pt>
                  <c:pt idx="4">
                    <c:v>Facilities &amp; Maint.</c:v>
                  </c:pt>
                  <c:pt idx="5">
                    <c:v>Cloud/SaaS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31.1</c:v>
                </c:pt>
                <c:pt idx="1">
                  <c:v>16.3</c:v>
                </c:pt>
                <c:pt idx="2">
                  <c:v>15.1</c:v>
                </c:pt>
                <c:pt idx="3">
                  <c:v>14.3</c:v>
                </c:pt>
                <c:pt idx="4">
                  <c:v>12.5</c:v>
                </c:pt>
                <c:pt idx="5">
                  <c:v>12.3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0"/>
        </c:scaling>
        <c:delete val="0"/>
        <c:axPos val="b"/>
        <c:majorGridlines>
          <c:spPr>
            <a:ln w="9525" cap="flat">
              <a:solidFill>
                <a:srgbClr val="E7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 VENDOR RISK REVIEW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Vendor Risk Tiering  —  Q3 2026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Malcolm Riley  |  Vendor Risk Management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263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vendor data is synthetically generated for portfolio demonstration purposes.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vendors scored by the Vendor Risk Tiering Model this quarter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7F8FB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04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Assessed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706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active vendor population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5087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7F8FB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691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C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404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Vendors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7706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13.7% of population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5087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7F8FB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1691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C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$9.4M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404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Spend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7706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 of total annual spend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89720" y="15087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7F8FB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72600" y="1691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A5A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2404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Gaps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27706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access, no certification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8404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vendors represent 13.7% of the population but only 11.8% of spend — risk is concentrated in specific relationships, not broad spend exposure. 95 vendors (including 21 already High-tier) are overdue for reassessment (&gt;365 days since last review), and 37 vendors combine full data access with no independent security certification — a control gap requiring remediation.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this review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41324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methodology &amp; performance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distribution across the vendor book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high-risk vendors &amp; required actions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Industry-level concentration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remediation timeline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Vendor Risk Review  —  Confidential (Synthetic Data)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vendor's risk tier is generated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08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150876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attributes per vendor: spend &amp; contract value, data access level, business criticality, financial health, compliance/SLA history, security certification, geography, and due-diligence recency.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60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256032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(300 trees) trained on 390 vendors, validated on a 130-vendor holdout set never seen during training.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611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361188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vendor scored into Low / Medium / High tier, plus a continuous 0–100 risk score blended from the model's class probabilities.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663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466344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69.2% holdout accuracy; AUC of 0.87 (Low), 0.73 (Medium), 0.85 (High) — the model is most confident distinguishing clear Low and High risk vendors.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Vendor Risk Review  —  Confidential (Synthetic Data)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Distribution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count and spend concentration across the three risk tiers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394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463040"/>
          <a:ext cx="5394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Vendor Risk Review  —  Confidential (Synthetic Data)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test set — 130 vendors never seen during training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5087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69.2%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— Low tier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35000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0.869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19125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— Medium tier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191256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0.729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03250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— High tier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4032504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0.848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(Actual → rows, Predicted → columns)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783080"/>
          <a:ext cx="6400800" cy="173736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00200"/>
                <a:gridCol w="1600200"/>
              </a:tblGrid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120640" y="3749040"/>
            <a:ext cx="6400800" cy="2194560"/>
          </a:xfrm>
          <a:prstGeom prst="roundRect">
            <a:avLst>
              <a:gd name="adj" fmla="val 2500"/>
            </a:avLst>
          </a:prstGeom>
          <a:solidFill>
            <a:srgbClr val="FBF3E7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49240" y="3931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Medium tier is hardest to classify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349240" y="43434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of 39 actual Medium-tier vendors (46%) were predicted as Low. This is a common pattern in ordinal risk tiering — the model is confident at the extremes but less precise at the boundary. Recommend routing model-predicted Medium-tier vendors through a lightweight analyst review rather than fully automating that tier.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Vendor Risk Review  —  Confidential (Synthetic Data)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High-Risk Vendors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risk-scored vendors this quarter, with required actions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338328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1005840"/>
                <a:gridCol w="2377440"/>
                <a:gridCol w="3108960"/>
              </a:tblGrid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Trailhead Co.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&amp; Media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C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Overdue 394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Reassess — overdue &gt;365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Lighthouse Holdings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Services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C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Overdue 420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Reassess — overdue &gt;365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 Technologies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Services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certified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High-tier 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Lighthouse Co.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Services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C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access, not certified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control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Logistics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High-tier 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 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Processing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C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Sanctions flagged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Escalate to Compliance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7F8FB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0749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6 vendors represent $500K+ in combined annual spend and are prioritized for the current remediation cycle. Full detail for all 71 High-tier vendors is available in the Vendor Risk Scorecard workbook.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Vendor Risk Review  —  Confidential (Synthetic Data)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Risk Concentration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vendors classified High-risk, by industry category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vendors are nearly 2x more likely to be High-risk than the next closest category — driven by elevated business criticality and data access levels typical of the category.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Vendor Risk Review  —  Confidential (Synthetic Data)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258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 control gaps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17720" y="13258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vendors combine full data access with no security certification. Require SOC2/ISO27001 or reduce access within 90 days.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286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reassessment backlog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2860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vendors are overdue for reassessment (&gt;365 days). Prioritize the 21 already in the High tier first.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246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flagged vendors now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24612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sanctions-flagged and 28 multi-incident vendors should route to Compliance/Legal this week, independent of tier.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2062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Medium-tier review queue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420624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weaker model precision on Medium-tier predictions, route these to a lightweight analyst check rather than full automation.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5166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Financial Services vendors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516636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category carries the highest High-risk concentration (31.1%) — candidate for a category-level policy update.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Vendor Risk Review  —  Confidential (Synthetic Data)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2026-09-19T03:39:41Z</dcterms:created>
  <dcterms:modified xsi:type="dcterms:W3CDTF">2026-09-19T03:39:41Z</dcterms:modified>
</cp:coreProperties>
</file>